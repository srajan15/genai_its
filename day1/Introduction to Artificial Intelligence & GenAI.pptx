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57" r:id="rId5"/>
    <p:sldId id="268" r:id="rId6"/>
    <p:sldId id="269" r:id="rId7"/>
    <p:sldId id="261" r:id="rId8"/>
    <p:sldId id="271" r:id="rId9"/>
    <p:sldId id="272" r:id="rId10"/>
    <p:sldId id="273" r:id="rId11"/>
    <p:sldId id="274" r:id="rId12"/>
    <p:sldId id="275" r:id="rId13"/>
    <p:sldId id="276" r:id="rId14"/>
    <p:sldId id="279" r:id="rId15"/>
    <p:sldId id="280" r:id="rId16"/>
    <p:sldId id="278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99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F8DE5B2-6C58-492F-8247-E6CAA5FA8FB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6722FEF-5CFA-47C3-B55D-EEEAE55A053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762000"/>
            <a:ext cx="6248400" cy="2884962"/>
          </a:xfrm>
        </p:spPr>
        <p:txBody>
          <a:bodyPr>
            <a:noAutofit/>
          </a:bodyPr>
          <a:lstStyle/>
          <a:p>
            <a:r>
              <a:rPr lang="en-US" sz="4000" dirty="0"/>
              <a:t/>
            </a:r>
            <a:br>
              <a:rPr lang="en-US" sz="4000" dirty="0"/>
            </a:br>
            <a:r>
              <a:rPr lang="en-US" sz="4000" dirty="0"/>
              <a:t>Generative AI for Business Students </a:t>
            </a:r>
            <a:r>
              <a:rPr lang="en-US" sz="4000"/>
              <a:t>(</a:t>
            </a:r>
            <a:r>
              <a:rPr lang="en-US" sz="4000" smtClean="0"/>
              <a:t>BCA)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962400"/>
            <a:ext cx="6858000" cy="2057400"/>
          </a:xfrm>
        </p:spPr>
        <p:txBody>
          <a:bodyPr>
            <a:noAutofit/>
          </a:bodyPr>
          <a:lstStyle/>
          <a:p>
            <a:r>
              <a:rPr lang="en-US" sz="2400" dirty="0"/>
              <a:t>Course: </a:t>
            </a:r>
            <a:r>
              <a:rPr lang="en-US" sz="2400" b="0" dirty="0"/>
              <a:t>Generative AI</a:t>
            </a:r>
          </a:p>
          <a:p>
            <a:r>
              <a:rPr lang="en-US" sz="2400" dirty="0"/>
              <a:t>Module 1: </a:t>
            </a:r>
            <a:r>
              <a:rPr lang="en-US" sz="2400" b="0" dirty="0"/>
              <a:t>AI Fundamentals</a:t>
            </a:r>
          </a:p>
          <a:p>
            <a:r>
              <a:rPr lang="en-US" sz="2400" dirty="0"/>
              <a:t>Instructor </a:t>
            </a:r>
            <a:r>
              <a:rPr lang="en-US" sz="2400" dirty="0" smtClean="0"/>
              <a:t>Name: </a:t>
            </a:r>
            <a:r>
              <a:rPr lang="en-US" sz="2400" b="0" dirty="0" err="1" smtClean="0"/>
              <a:t>Srajan</a:t>
            </a:r>
            <a:r>
              <a:rPr lang="en-US" sz="2400" b="0" dirty="0" smtClean="0"/>
              <a:t> </a:t>
            </a:r>
            <a:r>
              <a:rPr lang="en-US" sz="2400" b="0" dirty="0" err="1" smtClean="0"/>
              <a:t>Shukla</a:t>
            </a:r>
            <a:endParaRPr lang="en-US" sz="2400" b="0" dirty="0"/>
          </a:p>
          <a:p>
            <a:r>
              <a:rPr lang="en-US" sz="2400" dirty="0"/>
              <a:t>Institution </a:t>
            </a:r>
            <a:r>
              <a:rPr lang="en-US" sz="2400" dirty="0" smtClean="0"/>
              <a:t>Name: </a:t>
            </a:r>
            <a:r>
              <a:rPr lang="en-US" sz="2400" b="0" dirty="0"/>
              <a:t>Institute of Technology &amp; Science, Ghaziabad</a:t>
            </a:r>
          </a:p>
        </p:txBody>
      </p:sp>
    </p:spTree>
    <p:extLst>
      <p:ext uri="{BB962C8B-B14F-4D97-AF65-F5344CB8AC3E}">
        <p14:creationId xmlns:p14="http://schemas.microsoft.com/office/powerpoint/2010/main" val="31790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Why Is Everyone Talking About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AI tools are now: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Available to everyone</a:t>
            </a:r>
          </a:p>
          <a:p>
            <a:pPr lvl="1"/>
            <a:r>
              <a:rPr lang="en-US" dirty="0"/>
              <a:t>Free or affordable</a:t>
            </a:r>
          </a:p>
          <a:p>
            <a:r>
              <a:rPr lang="en-US" dirty="0"/>
              <a:t>AI can now:</a:t>
            </a:r>
          </a:p>
          <a:p>
            <a:pPr lvl="1"/>
            <a:r>
              <a:rPr lang="en-US" dirty="0"/>
              <a:t>Write emails &amp; content</a:t>
            </a:r>
          </a:p>
          <a:p>
            <a:pPr lvl="1"/>
            <a:r>
              <a:rPr lang="en-US" dirty="0"/>
              <a:t>Create images &amp; designs</a:t>
            </a:r>
          </a:p>
          <a:p>
            <a:pPr lvl="1"/>
            <a:r>
              <a:rPr lang="en-US" dirty="0"/>
              <a:t>Help in studies &amp; jobs</a:t>
            </a:r>
          </a:p>
          <a:p>
            <a:r>
              <a:rPr lang="en-US" dirty="0" err="1"/>
              <a:t>ChatGPT</a:t>
            </a:r>
            <a:r>
              <a:rPr lang="en-US" dirty="0"/>
              <a:t> made AI </a:t>
            </a:r>
            <a:r>
              <a:rPr lang="en-US" b="1" dirty="0"/>
              <a:t>mainstream</a:t>
            </a:r>
            <a:endParaRPr lang="en-US" dirty="0"/>
          </a:p>
          <a:p>
            <a:r>
              <a:rPr lang="en-US" dirty="0"/>
              <a:t>AI is no longer future — </a:t>
            </a:r>
            <a:r>
              <a:rPr lang="en-US" b="1" dirty="0"/>
              <a:t>it’s present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44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AI Myths </a:t>
            </a:r>
            <a:r>
              <a:rPr lang="en-US" sz="4000" b="1" dirty="0" err="1"/>
              <a:t>vs</a:t>
            </a:r>
            <a:r>
              <a:rPr lang="en-US" sz="4000" b="1" dirty="0"/>
              <a:t> Reality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0814705"/>
              </p:ext>
            </p:extLst>
          </p:nvPr>
        </p:nvGraphicFramePr>
        <p:xfrm>
          <a:off x="533400" y="1752600"/>
          <a:ext cx="7848600" cy="38709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733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 dirty="0"/>
                        <a:t>Myth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Reality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AI will replace all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AI will change jobs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AI thinks like humans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AI predicts patterns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AI is always correct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AI can make mistakes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AI is only for engineers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AI is for everyone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4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7696200" cy="1173162"/>
          </a:xfrm>
        </p:spPr>
        <p:txBody>
          <a:bodyPr>
            <a:noAutofit/>
          </a:bodyPr>
          <a:lstStyle/>
          <a:p>
            <a:r>
              <a:rPr lang="en-US" sz="4000" b="1"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828800"/>
            <a:ext cx="7467600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Artificial Intelligence (AI)</a:t>
            </a:r>
            <a:r>
              <a:rPr lang="en-US" sz="3200" dirty="0"/>
              <a:t> refers to the ability of a computer or machine to perform tasks that normally require </a:t>
            </a:r>
            <a:r>
              <a:rPr lang="en-US" sz="3200" b="1" dirty="0"/>
              <a:t>human intelligence</a:t>
            </a:r>
            <a:r>
              <a:rPr lang="en-US" sz="3200" dirty="0"/>
              <a:t>.</a:t>
            </a:r>
          </a:p>
          <a:p>
            <a:r>
              <a:rPr lang="en-US" sz="3200" dirty="0"/>
              <a:t>Examples of such tasks:</a:t>
            </a:r>
          </a:p>
          <a:p>
            <a:r>
              <a:rPr lang="en-US" sz="3200" dirty="0"/>
              <a:t>Learning</a:t>
            </a:r>
          </a:p>
          <a:p>
            <a:r>
              <a:rPr lang="en-US" sz="3200" dirty="0"/>
              <a:t>Problem solving</a:t>
            </a:r>
          </a:p>
          <a:p>
            <a:r>
              <a:rPr lang="en-US" sz="3200" dirty="0"/>
              <a:t>Decision </a:t>
            </a:r>
            <a:r>
              <a:rPr lang="en-US" sz="3200" dirty="0" smtClean="0"/>
              <a:t>making</a:t>
            </a:r>
          </a:p>
          <a:p>
            <a:pPr marL="0" indent="0">
              <a:buNone/>
            </a:pPr>
            <a:r>
              <a:rPr lang="en-US" sz="3200" dirty="0"/>
              <a:t>AI = Computer with learning ability</a:t>
            </a:r>
          </a:p>
        </p:txBody>
      </p:sp>
    </p:spTree>
    <p:extLst>
      <p:ext uri="{BB962C8B-B14F-4D97-AF65-F5344CB8AC3E}">
        <p14:creationId xmlns:p14="http://schemas.microsoft.com/office/powerpoint/2010/main" val="364480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Traditional AI – Rule-Based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Traditional AI works on </a:t>
            </a:r>
            <a:r>
              <a:rPr lang="en-US" b="1" dirty="0"/>
              <a:t>predefined rules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IF–ELSE</a:t>
            </a:r>
            <a:r>
              <a:rPr lang="en-US" dirty="0"/>
              <a:t> logic</a:t>
            </a:r>
          </a:p>
          <a:p>
            <a:r>
              <a:rPr lang="en-US" dirty="0"/>
              <a:t>Does not learn from experience</a:t>
            </a:r>
          </a:p>
          <a:p>
            <a:r>
              <a:rPr lang="en-US" dirty="0"/>
              <a:t>Output is predictable</a:t>
            </a:r>
          </a:p>
          <a:p>
            <a:r>
              <a:rPr lang="en-US" dirty="0"/>
              <a:t>Humans define all the rules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Calculator</a:t>
            </a:r>
          </a:p>
          <a:p>
            <a:r>
              <a:rPr lang="en-US" dirty="0"/>
              <a:t>Traffic signal system</a:t>
            </a:r>
          </a:p>
          <a:p>
            <a:r>
              <a:rPr lang="en-US" dirty="0"/>
              <a:t>Rule-based </a:t>
            </a:r>
            <a:r>
              <a:rPr lang="en-US" dirty="0" err="1"/>
              <a:t>chatbots</a:t>
            </a:r>
            <a:endParaRPr lang="en-US" dirty="0"/>
          </a:p>
          <a:p>
            <a:r>
              <a:rPr lang="en-US" dirty="0"/>
              <a:t>Simple games (Chess engines – early versions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71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Machine Learning – Learning from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Machine Learning is a </a:t>
            </a:r>
            <a:r>
              <a:rPr lang="en-US" b="1" dirty="0"/>
              <a:t>subset of AI</a:t>
            </a:r>
            <a:endParaRPr lang="en-US" dirty="0"/>
          </a:p>
          <a:p>
            <a:r>
              <a:rPr lang="en-US" dirty="0"/>
              <a:t>ML systems learn from </a:t>
            </a:r>
            <a:r>
              <a:rPr lang="en-US" b="1" dirty="0"/>
              <a:t>data</a:t>
            </a:r>
            <a:endParaRPr lang="en-US" dirty="0"/>
          </a:p>
          <a:p>
            <a:r>
              <a:rPr lang="en-US" dirty="0"/>
              <a:t>They improve performance over time</a:t>
            </a:r>
          </a:p>
          <a:p>
            <a:r>
              <a:rPr lang="en-US" dirty="0"/>
              <a:t>No need to define every rule manually</a:t>
            </a:r>
          </a:p>
          <a:p>
            <a:r>
              <a:rPr lang="en-US" dirty="0"/>
              <a:t>Decisions are based on patterns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Netflix / YouTube recommendations</a:t>
            </a:r>
          </a:p>
          <a:p>
            <a:r>
              <a:rPr lang="en-US" dirty="0"/>
              <a:t>Spam email detection</a:t>
            </a:r>
          </a:p>
          <a:p>
            <a:r>
              <a:rPr lang="en-US" dirty="0"/>
              <a:t>Face unlock in mobile phones</a:t>
            </a:r>
          </a:p>
          <a:p>
            <a:r>
              <a:rPr lang="en-US" dirty="0"/>
              <a:t>Credit card fraud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46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it-IT" sz="4000" b="1" dirty="0"/>
              <a:t>Generative AI – AI That Creates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7467600" cy="5257800"/>
          </a:xfrm>
        </p:spPr>
        <p:txBody>
          <a:bodyPr>
            <a:noAutofit/>
          </a:bodyPr>
          <a:lstStyle/>
          <a:p>
            <a:r>
              <a:rPr lang="en-US" sz="2000" dirty="0"/>
              <a:t>Generative AI creates </a:t>
            </a:r>
            <a:r>
              <a:rPr lang="en-US" sz="2000" b="1" dirty="0"/>
              <a:t>new content</a:t>
            </a:r>
            <a:endParaRPr lang="en-US" sz="2000" dirty="0"/>
          </a:p>
          <a:p>
            <a:r>
              <a:rPr lang="en-US" sz="2000" dirty="0"/>
              <a:t>It does not just analyze data</a:t>
            </a:r>
          </a:p>
          <a:p>
            <a:r>
              <a:rPr lang="en-US" sz="2000" dirty="0"/>
              <a:t>It can generate:</a:t>
            </a:r>
          </a:p>
          <a:p>
            <a:pPr lvl="1"/>
            <a:r>
              <a:rPr lang="en-US" sz="2000" dirty="0"/>
              <a:t>Text</a:t>
            </a:r>
          </a:p>
          <a:p>
            <a:pPr lvl="1"/>
            <a:r>
              <a:rPr lang="en-US" sz="2000" dirty="0"/>
              <a:t>Images</a:t>
            </a:r>
          </a:p>
          <a:p>
            <a:pPr lvl="1"/>
            <a:r>
              <a:rPr lang="en-US" sz="2000" dirty="0"/>
              <a:t>Videos</a:t>
            </a:r>
          </a:p>
          <a:p>
            <a:pPr lvl="1"/>
            <a:r>
              <a:rPr lang="en-US" sz="2000" dirty="0"/>
              <a:t>Code</a:t>
            </a:r>
          </a:p>
          <a:p>
            <a:r>
              <a:rPr lang="en-US" sz="2000" dirty="0"/>
              <a:t>Output looks </a:t>
            </a:r>
            <a:r>
              <a:rPr lang="en-US" sz="2000" b="1" dirty="0"/>
              <a:t>human-like</a:t>
            </a:r>
            <a:endParaRPr lang="en-US" sz="2000" dirty="0"/>
          </a:p>
          <a:p>
            <a:r>
              <a:rPr lang="en-US" sz="2000" dirty="0"/>
              <a:t>Powered by large models trained on huge data</a:t>
            </a:r>
          </a:p>
          <a:p>
            <a:pPr marL="0" indent="0">
              <a:buNone/>
            </a:pPr>
            <a:r>
              <a:rPr lang="en-US" sz="2000" b="1" dirty="0"/>
              <a:t>Examples:</a:t>
            </a:r>
          </a:p>
          <a:p>
            <a:r>
              <a:rPr lang="en-US" sz="2000" dirty="0" err="1"/>
              <a:t>ChatGPT</a:t>
            </a:r>
            <a:r>
              <a:rPr lang="en-US" sz="2000" dirty="0"/>
              <a:t> – text &amp; ideas</a:t>
            </a:r>
          </a:p>
          <a:p>
            <a:r>
              <a:rPr lang="en-US" sz="2000" dirty="0"/>
              <a:t>DALL·E – image generation</a:t>
            </a:r>
          </a:p>
          <a:p>
            <a:r>
              <a:rPr lang="en-US" sz="2000" dirty="0" err="1"/>
              <a:t>Midjourney</a:t>
            </a:r>
            <a:r>
              <a:rPr lang="en-US" sz="2000" dirty="0"/>
              <a:t> – creative designs</a:t>
            </a:r>
          </a:p>
          <a:p>
            <a:r>
              <a:rPr lang="en-US" sz="2000" dirty="0"/>
              <a:t>AI music &amp; video tools</a:t>
            </a:r>
          </a:p>
        </p:txBody>
      </p:sp>
    </p:spTree>
    <p:extLst>
      <p:ext uri="{BB962C8B-B14F-4D97-AF65-F5344CB8AC3E}">
        <p14:creationId xmlns:p14="http://schemas.microsoft.com/office/powerpoint/2010/main" val="118234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AI vs Machine Learning vs Generative AI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Artificial Intelligence (AI) is the </a:t>
            </a:r>
            <a:r>
              <a:rPr lang="en-US" b="1" dirty="0"/>
              <a:t>umbrella term</a:t>
            </a:r>
            <a:endParaRPr lang="en-US" dirty="0"/>
          </a:p>
          <a:p>
            <a:r>
              <a:rPr lang="en-US" dirty="0"/>
              <a:t>Machine Learning (ML) is a </a:t>
            </a:r>
            <a:r>
              <a:rPr lang="en-US" b="1" dirty="0"/>
              <a:t>subset of AI</a:t>
            </a:r>
            <a:endParaRPr lang="en-US" dirty="0"/>
          </a:p>
          <a:p>
            <a:r>
              <a:rPr lang="en-US" dirty="0"/>
              <a:t>Generative AI is a </a:t>
            </a:r>
            <a:r>
              <a:rPr lang="en-US" b="1" dirty="0"/>
              <a:t>subset of ML</a:t>
            </a:r>
            <a:endParaRPr lang="en-US" dirty="0"/>
          </a:p>
          <a:p>
            <a:r>
              <a:rPr lang="en-US" dirty="0"/>
              <a:t>Each level adds </a:t>
            </a:r>
            <a:r>
              <a:rPr lang="en-US" b="1" dirty="0"/>
              <a:t>more intelligence and capability</a:t>
            </a:r>
            <a:endParaRPr lang="en-US" dirty="0"/>
          </a:p>
          <a:p>
            <a:r>
              <a:rPr lang="en-US" dirty="0"/>
              <a:t>Generative AI is the </a:t>
            </a:r>
            <a:r>
              <a:rPr lang="en-US" b="1" dirty="0"/>
              <a:t>most advanced form</a:t>
            </a:r>
            <a:r>
              <a:rPr lang="en-US" dirty="0"/>
              <a:t> today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 descr="C:\Users\Dell\Pictures\ChatGPT Image Feb 2, 2026, 08_39_08 PM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5" y="2057400"/>
            <a:ext cx="36576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89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Comparison Table – AI vs ML vs Generative AI</a:t>
            </a:r>
            <a:endParaRPr lang="en-US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37343931"/>
              </p:ext>
            </p:extLst>
          </p:nvPr>
        </p:nvGraphicFramePr>
        <p:xfrm>
          <a:off x="533400" y="1676400"/>
          <a:ext cx="7467600" cy="35966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66900"/>
                <a:gridCol w="1866900"/>
                <a:gridCol w="1866900"/>
                <a:gridCol w="1866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Traditional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Generative AI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Decision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Rule-based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Data-based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Pattern + creation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Learning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Yes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Content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✅ Yes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Predictive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Creative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Calculator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Netflix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ChatGPT</a:t>
                      </a:r>
                      <a:endParaRPr 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578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Real-Life Examples You Use Every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Traditional AI:</a:t>
            </a:r>
          </a:p>
          <a:p>
            <a:pPr lvl="1"/>
            <a:r>
              <a:rPr lang="en-US" dirty="0"/>
              <a:t>Calculator</a:t>
            </a:r>
          </a:p>
          <a:p>
            <a:pPr lvl="1"/>
            <a:r>
              <a:rPr lang="en-US" dirty="0"/>
              <a:t>Traffic lights</a:t>
            </a:r>
          </a:p>
          <a:p>
            <a:pPr marL="0" indent="0">
              <a:buNone/>
            </a:pPr>
            <a:r>
              <a:rPr lang="en-US" b="1" dirty="0"/>
              <a:t>Machine Learning:</a:t>
            </a:r>
          </a:p>
          <a:p>
            <a:pPr lvl="1"/>
            <a:r>
              <a:rPr lang="en-US" dirty="0"/>
              <a:t>Netflix / YouTube recommendations</a:t>
            </a:r>
          </a:p>
          <a:p>
            <a:pPr lvl="1"/>
            <a:r>
              <a:rPr lang="en-US" dirty="0"/>
              <a:t>Google Maps routes</a:t>
            </a:r>
          </a:p>
          <a:p>
            <a:pPr marL="0" indent="0">
              <a:buNone/>
            </a:pPr>
            <a:r>
              <a:rPr lang="en-US" b="1" dirty="0"/>
              <a:t>Generative AI:</a:t>
            </a:r>
          </a:p>
          <a:p>
            <a:pPr lvl="1"/>
            <a:r>
              <a:rPr lang="en-US" dirty="0" err="1"/>
              <a:t>ChatGPT</a:t>
            </a:r>
            <a:r>
              <a:rPr lang="en-US" dirty="0"/>
              <a:t> writing answers</a:t>
            </a:r>
          </a:p>
          <a:p>
            <a:pPr lvl="1"/>
            <a:r>
              <a:rPr lang="en-US" dirty="0"/>
              <a:t>AI image generators</a:t>
            </a:r>
          </a:p>
          <a:p>
            <a:pPr lvl="1"/>
            <a:r>
              <a:rPr lang="en-US" dirty="0"/>
              <a:t>Resume &amp; content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221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4000" b="1" dirty="0"/>
              <a:t>Identify AI, ML, or Generative AI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600" dirty="0"/>
              <a:t>A calculator adds two numbers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Netflix recommends a movie</a:t>
            </a:r>
          </a:p>
          <a:p>
            <a:pPr>
              <a:lnSpc>
                <a:spcPct val="150000"/>
              </a:lnSpc>
            </a:pPr>
            <a:r>
              <a:rPr lang="en-US" sz="3600" dirty="0" err="1"/>
              <a:t>ChatGPT</a:t>
            </a:r>
            <a:r>
              <a:rPr lang="en-US" sz="3600" dirty="0"/>
              <a:t> writes an email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Phone unlocks using face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AI creates a logo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574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 Machines Understand Human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Humans communicate using </a:t>
            </a:r>
            <a:r>
              <a:rPr lang="en-US" b="1" dirty="0"/>
              <a:t>natural language</a:t>
            </a:r>
            <a:endParaRPr lang="en-US" dirty="0"/>
          </a:p>
          <a:p>
            <a:r>
              <a:rPr lang="en-US" dirty="0"/>
              <a:t>Computers understand only </a:t>
            </a:r>
            <a:r>
              <a:rPr lang="en-US" b="1" dirty="0"/>
              <a:t>numbers</a:t>
            </a:r>
            <a:endParaRPr lang="en-US" dirty="0"/>
          </a:p>
          <a:p>
            <a:r>
              <a:rPr lang="en-US" dirty="0"/>
              <a:t>To bridge this gap, AI uses:</a:t>
            </a:r>
          </a:p>
          <a:p>
            <a:r>
              <a:rPr lang="en-US" dirty="0"/>
              <a:t>Language processing techniques</a:t>
            </a:r>
          </a:p>
          <a:p>
            <a:r>
              <a:rPr lang="en-US" dirty="0"/>
              <a:t>AI does not “understand” like humans</a:t>
            </a:r>
          </a:p>
          <a:p>
            <a:r>
              <a:rPr lang="en-US" dirty="0"/>
              <a:t>It finds </a:t>
            </a:r>
            <a:r>
              <a:rPr lang="en-US" b="1" dirty="0"/>
              <a:t>patterns in </a:t>
            </a:r>
            <a:r>
              <a:rPr lang="en-US" b="1" dirty="0" smtClean="0"/>
              <a:t>language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AI understands language by converting words into numbers.</a:t>
            </a:r>
          </a:p>
        </p:txBody>
      </p:sp>
    </p:spTree>
    <p:extLst>
      <p:ext uri="{BB962C8B-B14F-4D97-AF65-F5344CB8AC3E}">
        <p14:creationId xmlns:p14="http://schemas.microsoft.com/office/powerpoint/2010/main" val="411721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Natural Language Processing (NLP)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NLP is a branch of AI</a:t>
            </a:r>
          </a:p>
          <a:p>
            <a:r>
              <a:rPr lang="en-US" dirty="0"/>
              <a:t>It helps machines:</a:t>
            </a:r>
          </a:p>
          <a:p>
            <a:pPr lvl="1"/>
            <a:r>
              <a:rPr lang="en-US" dirty="0"/>
              <a:t>Read text</a:t>
            </a:r>
          </a:p>
          <a:p>
            <a:pPr lvl="1"/>
            <a:r>
              <a:rPr lang="en-US" dirty="0"/>
              <a:t>Understand meaning</a:t>
            </a:r>
          </a:p>
          <a:p>
            <a:pPr lvl="1"/>
            <a:r>
              <a:rPr lang="en-US" dirty="0"/>
              <a:t>Respond in human language</a:t>
            </a:r>
          </a:p>
          <a:p>
            <a:r>
              <a:rPr lang="en-US" dirty="0"/>
              <a:t>NLP is used in:</a:t>
            </a:r>
          </a:p>
          <a:p>
            <a:pPr lvl="1"/>
            <a:r>
              <a:rPr lang="en-US" dirty="0" err="1"/>
              <a:t>Chatbots</a:t>
            </a:r>
            <a:endParaRPr lang="en-US" dirty="0"/>
          </a:p>
          <a:p>
            <a:pPr lvl="1"/>
            <a:r>
              <a:rPr lang="en-US" dirty="0"/>
              <a:t>Voice assistants</a:t>
            </a:r>
          </a:p>
          <a:p>
            <a:pPr lvl="1"/>
            <a:r>
              <a:rPr lang="en-US" dirty="0"/>
              <a:t>Translation tools</a:t>
            </a:r>
          </a:p>
          <a:p>
            <a:r>
              <a:rPr lang="en-US" dirty="0"/>
              <a:t>NLP works on text and speech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Google Translate</a:t>
            </a:r>
          </a:p>
          <a:p>
            <a:r>
              <a:rPr lang="en-US" dirty="0"/>
              <a:t>Voice assistants</a:t>
            </a:r>
          </a:p>
          <a:p>
            <a:r>
              <a:rPr lang="en-US" dirty="0" err="1"/>
              <a:t>Chatbots</a:t>
            </a:r>
            <a:r>
              <a:rPr lang="en-US" dirty="0"/>
              <a:t> like </a:t>
            </a:r>
            <a:r>
              <a:rPr lang="en-US" dirty="0" err="1"/>
              <a:t>ChatGPT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NLP is the bridge between humans and machines.</a:t>
            </a:r>
          </a:p>
        </p:txBody>
      </p:sp>
    </p:spTree>
    <p:extLst>
      <p:ext uri="{BB962C8B-B14F-4D97-AF65-F5344CB8AC3E}">
        <p14:creationId xmlns:p14="http://schemas.microsoft.com/office/powerpoint/2010/main" val="3920530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 to Numbers – The Language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Computers do not understand words or sentences</a:t>
            </a:r>
          </a:p>
          <a:p>
            <a:r>
              <a:rPr lang="en-US" dirty="0"/>
              <a:t>AI works only with </a:t>
            </a:r>
            <a:r>
              <a:rPr lang="en-US" b="1" dirty="0"/>
              <a:t>numbers</a:t>
            </a:r>
            <a:endParaRPr lang="en-US" dirty="0"/>
          </a:p>
          <a:p>
            <a:r>
              <a:rPr lang="en-US" dirty="0"/>
              <a:t>Every word is converted into a </a:t>
            </a:r>
            <a:r>
              <a:rPr lang="en-US" b="1" dirty="0"/>
              <a:t>numerical representation</a:t>
            </a:r>
            <a:endParaRPr lang="en-US" dirty="0"/>
          </a:p>
          <a:p>
            <a:r>
              <a:rPr lang="en-US" dirty="0"/>
              <a:t>These numbers capture:</a:t>
            </a:r>
          </a:p>
          <a:p>
            <a:pPr lvl="1"/>
            <a:r>
              <a:rPr lang="en-US" sz="2400" dirty="0"/>
              <a:t>Meaning</a:t>
            </a:r>
          </a:p>
          <a:p>
            <a:pPr lvl="1"/>
            <a:r>
              <a:rPr lang="en-US" sz="2400" dirty="0"/>
              <a:t>Relationships</a:t>
            </a:r>
          </a:p>
          <a:p>
            <a:pPr lvl="1"/>
            <a:r>
              <a:rPr lang="en-US" sz="2400" dirty="0"/>
              <a:t>Similarity between words</a:t>
            </a:r>
          </a:p>
          <a:p>
            <a:r>
              <a:rPr lang="en-US" dirty="0"/>
              <a:t>This conversion enables AI to learn language</a:t>
            </a:r>
          </a:p>
          <a:p>
            <a:pPr marL="0" indent="0">
              <a:buNone/>
            </a:pPr>
            <a:r>
              <a:rPr lang="en-US" b="1" dirty="0" smtClean="0"/>
              <a:t>For </a:t>
            </a:r>
            <a:r>
              <a:rPr lang="en-US" b="1" dirty="0"/>
              <a:t>AI, numbers are meaning.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8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Tokens – Breaking Text into </a:t>
            </a:r>
            <a:r>
              <a:rPr lang="en-US" b="1" dirty="0" err="1"/>
              <a:t>Processable</a:t>
            </a:r>
            <a:r>
              <a:rPr lang="en-US" b="1" dirty="0"/>
              <a:t>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AI does not read full sentences at once</a:t>
            </a:r>
          </a:p>
          <a:p>
            <a:r>
              <a:rPr lang="en-US" dirty="0"/>
              <a:t>Text is split into </a:t>
            </a:r>
            <a:r>
              <a:rPr lang="en-US" b="1" dirty="0"/>
              <a:t>tokens</a:t>
            </a:r>
            <a:endParaRPr lang="en-US" dirty="0"/>
          </a:p>
          <a:p>
            <a:r>
              <a:rPr lang="en-US" dirty="0"/>
              <a:t>Tokens can be:</a:t>
            </a:r>
          </a:p>
          <a:p>
            <a:pPr lvl="1"/>
            <a:r>
              <a:rPr lang="en-US" dirty="0"/>
              <a:t>Full words</a:t>
            </a:r>
          </a:p>
          <a:p>
            <a:pPr lvl="1"/>
            <a:r>
              <a:rPr lang="en-US" dirty="0"/>
              <a:t>Parts of words</a:t>
            </a:r>
          </a:p>
          <a:p>
            <a:pPr lvl="1"/>
            <a:r>
              <a:rPr lang="en-US" dirty="0"/>
              <a:t>Characters</a:t>
            </a:r>
          </a:p>
          <a:p>
            <a:r>
              <a:rPr lang="en-US" dirty="0"/>
              <a:t>Tokens are the </a:t>
            </a:r>
            <a:r>
              <a:rPr lang="en-US" b="1" dirty="0"/>
              <a:t>basic input</a:t>
            </a:r>
            <a:r>
              <a:rPr lang="en-US" dirty="0"/>
              <a:t> for AI models</a:t>
            </a:r>
          </a:p>
          <a:p>
            <a:r>
              <a:rPr lang="en-US" dirty="0"/>
              <a:t>Fewer tokens = faster processing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“Generative AI is powerful”</a:t>
            </a:r>
            <a:br>
              <a:rPr lang="en-US" dirty="0"/>
            </a:br>
            <a:r>
              <a:rPr lang="en-US" dirty="0"/>
              <a:t>→ Generative | AI | is | power | </a:t>
            </a:r>
            <a:r>
              <a:rPr lang="en-US" dirty="0" err="1" smtClean="0"/>
              <a:t>ful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99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Context – Giving Meaning to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Words alone do not give meaning</a:t>
            </a:r>
          </a:p>
          <a:p>
            <a:r>
              <a:rPr lang="en-US" dirty="0"/>
              <a:t>Meaning depends on </a:t>
            </a:r>
            <a:r>
              <a:rPr lang="en-US" b="1" dirty="0"/>
              <a:t>context</a:t>
            </a:r>
            <a:endParaRPr lang="en-US" dirty="0"/>
          </a:p>
          <a:p>
            <a:r>
              <a:rPr lang="en-US" dirty="0"/>
              <a:t>AI looks at surrounding tokens</a:t>
            </a:r>
          </a:p>
          <a:p>
            <a:r>
              <a:rPr lang="en-US" dirty="0"/>
              <a:t>Context helps AI:</a:t>
            </a:r>
          </a:p>
          <a:p>
            <a:pPr lvl="1"/>
            <a:r>
              <a:rPr lang="en-US" dirty="0"/>
              <a:t>Understand intent</a:t>
            </a:r>
          </a:p>
          <a:p>
            <a:pPr lvl="1"/>
            <a:r>
              <a:rPr lang="en-US" dirty="0"/>
              <a:t>Predict correct responses</a:t>
            </a:r>
          </a:p>
          <a:p>
            <a:pPr lvl="1"/>
            <a:r>
              <a:rPr lang="en-US" dirty="0"/>
              <a:t>Avoid ambiguity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Bank → Money context</a:t>
            </a:r>
          </a:p>
          <a:p>
            <a:r>
              <a:rPr lang="en-US" dirty="0"/>
              <a:t>Bank → River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57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Large Language Models (LLMs)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LLMs are powerful language models</a:t>
            </a:r>
          </a:p>
          <a:p>
            <a:r>
              <a:rPr lang="en-US" sz="2000" dirty="0"/>
              <a:t>Trained on </a:t>
            </a:r>
            <a:r>
              <a:rPr lang="en-US" sz="2000" b="1" dirty="0"/>
              <a:t>massive text data</a:t>
            </a:r>
            <a:endParaRPr lang="en-US" sz="2000" dirty="0"/>
          </a:p>
          <a:p>
            <a:r>
              <a:rPr lang="en-US" sz="2000" dirty="0"/>
              <a:t>Learn:</a:t>
            </a:r>
          </a:p>
          <a:p>
            <a:pPr lvl="1"/>
            <a:r>
              <a:rPr lang="en-US" sz="2000" dirty="0"/>
              <a:t>Grammar</a:t>
            </a:r>
          </a:p>
          <a:p>
            <a:pPr lvl="1"/>
            <a:r>
              <a:rPr lang="en-US" sz="2000" dirty="0"/>
              <a:t>Semantics</a:t>
            </a:r>
          </a:p>
          <a:p>
            <a:pPr lvl="1"/>
            <a:r>
              <a:rPr lang="en-US" sz="2000" dirty="0"/>
              <a:t>Language patterns</a:t>
            </a:r>
          </a:p>
          <a:p>
            <a:r>
              <a:rPr lang="en-US" sz="2000" dirty="0"/>
              <a:t>Can generate:</a:t>
            </a:r>
          </a:p>
          <a:p>
            <a:pPr lvl="1"/>
            <a:r>
              <a:rPr lang="en-US" sz="2000" dirty="0"/>
              <a:t>Text</a:t>
            </a:r>
          </a:p>
          <a:p>
            <a:pPr lvl="1"/>
            <a:r>
              <a:rPr lang="en-US" sz="2000" dirty="0"/>
              <a:t>Answers</a:t>
            </a:r>
          </a:p>
          <a:p>
            <a:pPr lvl="1"/>
            <a:r>
              <a:rPr lang="en-US" sz="2000" dirty="0"/>
              <a:t>Summaries</a:t>
            </a:r>
          </a:p>
          <a:p>
            <a:r>
              <a:rPr lang="en-US" sz="2000" dirty="0"/>
              <a:t>Power behind modern </a:t>
            </a:r>
            <a:r>
              <a:rPr lang="en-US" sz="2000" dirty="0" err="1"/>
              <a:t>GenAI</a:t>
            </a:r>
            <a:r>
              <a:rPr lang="en-US" sz="2000" dirty="0"/>
              <a:t> tools</a:t>
            </a:r>
          </a:p>
          <a:p>
            <a:pPr marL="0" indent="0">
              <a:buNone/>
            </a:pPr>
            <a:r>
              <a:rPr lang="en-US" sz="2000" b="1" dirty="0"/>
              <a:t>Examples</a:t>
            </a:r>
          </a:p>
          <a:p>
            <a:r>
              <a:rPr lang="en-US" sz="2000" dirty="0" err="1"/>
              <a:t>ChatGPT</a:t>
            </a:r>
            <a:r>
              <a:rPr lang="en-US" sz="2000" dirty="0"/>
              <a:t> | Gemini | Claude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8371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Generative AI Generates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User inputs a prompt</a:t>
            </a:r>
          </a:p>
          <a:p>
            <a:r>
              <a:rPr lang="en-US" sz="2800" dirty="0"/>
              <a:t>Text is converted into numbers</a:t>
            </a:r>
          </a:p>
          <a:p>
            <a:r>
              <a:rPr lang="en-US" sz="2800" dirty="0"/>
              <a:t>Model analyzes context &amp; patterns</a:t>
            </a:r>
          </a:p>
          <a:p>
            <a:r>
              <a:rPr lang="en-US" sz="2800" dirty="0"/>
              <a:t>Predicts the </a:t>
            </a:r>
            <a:r>
              <a:rPr lang="en-US" sz="2800" b="1" dirty="0"/>
              <a:t>next most likely word</a:t>
            </a:r>
            <a:endParaRPr lang="en-US" sz="2800" dirty="0"/>
          </a:p>
          <a:p>
            <a:r>
              <a:rPr lang="en-US" sz="2800" dirty="0"/>
              <a:t>Repeats until response is complete</a:t>
            </a:r>
          </a:p>
          <a:p>
            <a:pPr marL="0" indent="0">
              <a:buNone/>
            </a:pPr>
            <a:r>
              <a:rPr lang="en-US" sz="2800" b="1" dirty="0"/>
              <a:t>Final Insight</a:t>
            </a:r>
          </a:p>
          <a:p>
            <a:r>
              <a:rPr lang="en-US" sz="2800" dirty="0"/>
              <a:t>Generative AI predicts language — it does not think.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2942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Generative AI Tools – The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Generative AI tools help humans:</a:t>
            </a:r>
          </a:p>
          <a:p>
            <a:pPr lvl="1"/>
            <a:r>
              <a:rPr lang="en-US" dirty="0"/>
              <a:t>Create content</a:t>
            </a:r>
          </a:p>
          <a:p>
            <a:pPr lvl="1"/>
            <a:r>
              <a:rPr lang="en-US" dirty="0"/>
              <a:t>Generate ideas</a:t>
            </a:r>
          </a:p>
          <a:p>
            <a:pPr lvl="1"/>
            <a:r>
              <a:rPr lang="en-US" dirty="0"/>
              <a:t>Solve problems faster</a:t>
            </a:r>
          </a:p>
          <a:p>
            <a:r>
              <a:rPr lang="en-US" dirty="0"/>
              <a:t>Different tools are built for different purposes: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Research</a:t>
            </a:r>
          </a:p>
          <a:p>
            <a:pPr lvl="1"/>
            <a:r>
              <a:rPr lang="en-US" dirty="0"/>
              <a:t>Creativity</a:t>
            </a:r>
          </a:p>
          <a:p>
            <a:r>
              <a:rPr lang="en-US" dirty="0"/>
              <a:t>These tools are powered by </a:t>
            </a:r>
            <a:r>
              <a:rPr lang="en-US" b="1" dirty="0"/>
              <a:t>Large Language Models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Tools change, but the core </a:t>
            </a:r>
            <a:r>
              <a:rPr lang="en-US" b="1" dirty="0" err="1"/>
              <a:t>GenAI</a:t>
            </a:r>
            <a:r>
              <a:rPr lang="en-US" b="1" dirty="0"/>
              <a:t> concept remains the same.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88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ChatGPT</a:t>
            </a:r>
            <a:r>
              <a:rPr lang="en-US" b="1" dirty="0"/>
              <a:t> – The Most Popular </a:t>
            </a:r>
            <a:r>
              <a:rPr lang="en-US" b="1" dirty="0" err="1"/>
              <a:t>GenAI</a:t>
            </a:r>
            <a:r>
              <a:rPr lang="en-US" b="1" dirty="0"/>
              <a:t>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ChatGPT</a:t>
            </a:r>
            <a:r>
              <a:rPr lang="en-US" dirty="0"/>
              <a:t> is a conversational AI tool</a:t>
            </a:r>
          </a:p>
          <a:p>
            <a:r>
              <a:rPr lang="en-US" dirty="0"/>
              <a:t>It can:</a:t>
            </a:r>
          </a:p>
          <a:p>
            <a:pPr lvl="1"/>
            <a:r>
              <a:rPr lang="en-US" sz="2400" dirty="0"/>
              <a:t>Answer questions</a:t>
            </a:r>
          </a:p>
          <a:p>
            <a:pPr lvl="1"/>
            <a:r>
              <a:rPr lang="en-US" sz="2400" dirty="0"/>
              <a:t>Write emails &amp; content</a:t>
            </a:r>
          </a:p>
          <a:p>
            <a:pPr lvl="1"/>
            <a:r>
              <a:rPr lang="en-US" sz="2400" dirty="0"/>
              <a:t>Help in learning &amp; coding</a:t>
            </a:r>
          </a:p>
          <a:p>
            <a:pPr lvl="1"/>
            <a:r>
              <a:rPr lang="en-US" sz="2400" dirty="0"/>
              <a:t>Brainstorm ideas</a:t>
            </a:r>
          </a:p>
          <a:p>
            <a:r>
              <a:rPr lang="en-US" dirty="0"/>
              <a:t>Easy to use: just type in natural language</a:t>
            </a:r>
          </a:p>
          <a:p>
            <a:r>
              <a:rPr lang="en-US" dirty="0"/>
              <a:t>Used by students, professionals, and companies</a:t>
            </a:r>
          </a:p>
          <a:p>
            <a:r>
              <a:rPr lang="en-US" b="1" dirty="0"/>
              <a:t>Key Insight</a:t>
            </a:r>
          </a:p>
          <a:p>
            <a:r>
              <a:rPr lang="en-US" dirty="0" err="1"/>
              <a:t>ChatGPT</a:t>
            </a:r>
            <a:r>
              <a:rPr lang="en-US" dirty="0"/>
              <a:t> made AI accessible to everyone.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847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Gemini &amp; Claude – Advanced AI Assistants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Gemini (Google):</a:t>
            </a:r>
            <a:endParaRPr lang="en-US" dirty="0"/>
          </a:p>
          <a:p>
            <a:pPr lvl="1"/>
            <a:r>
              <a:rPr lang="en-US" dirty="0"/>
              <a:t>Strong in multimodal tasks</a:t>
            </a:r>
          </a:p>
          <a:p>
            <a:pPr lvl="1"/>
            <a:r>
              <a:rPr lang="en-US" dirty="0"/>
              <a:t>Works with text, images, and data</a:t>
            </a:r>
          </a:p>
          <a:p>
            <a:r>
              <a:rPr lang="en-US" b="1" dirty="0"/>
              <a:t>Claude (Anthropic):</a:t>
            </a:r>
            <a:endParaRPr lang="en-US" dirty="0"/>
          </a:p>
          <a:p>
            <a:pPr lvl="1"/>
            <a:r>
              <a:rPr lang="en-US" dirty="0"/>
              <a:t>Designed for long documents</a:t>
            </a:r>
          </a:p>
          <a:p>
            <a:pPr lvl="1"/>
            <a:r>
              <a:rPr lang="en-US" dirty="0"/>
              <a:t>Focus on safety &amp; clarity</a:t>
            </a:r>
          </a:p>
          <a:p>
            <a:r>
              <a:rPr lang="en-US" dirty="0"/>
              <a:t>Both are alternatives to </a:t>
            </a:r>
            <a:r>
              <a:rPr lang="en-US" dirty="0" err="1"/>
              <a:t>ChatGPT</a:t>
            </a:r>
            <a:endParaRPr lang="en-US" dirty="0"/>
          </a:p>
          <a:p>
            <a:r>
              <a:rPr lang="en-US" dirty="0"/>
              <a:t>Choice depends on </a:t>
            </a:r>
            <a:r>
              <a:rPr lang="en-US" b="1" dirty="0"/>
              <a:t>use case</a:t>
            </a:r>
            <a:endParaRPr lang="en-US" dirty="0"/>
          </a:p>
          <a:p>
            <a:r>
              <a:rPr lang="en-US" b="1" dirty="0"/>
              <a:t>Key Message</a:t>
            </a:r>
          </a:p>
          <a:p>
            <a:r>
              <a:rPr lang="en-US" dirty="0"/>
              <a:t>Different tools for different needs.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52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DALL·E &amp; </a:t>
            </a:r>
            <a:r>
              <a:rPr lang="en-US" b="1" dirty="0" err="1"/>
              <a:t>Midjourney</a:t>
            </a:r>
            <a:r>
              <a:rPr lang="en-US" b="1" dirty="0"/>
              <a:t> – AI That Creates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tools convert </a:t>
            </a:r>
            <a:r>
              <a:rPr lang="en-US" b="1" dirty="0"/>
              <a:t>text prompts into images</a:t>
            </a:r>
            <a:endParaRPr lang="en-US" dirty="0"/>
          </a:p>
          <a:p>
            <a:r>
              <a:rPr lang="en-US" dirty="0"/>
              <a:t>Used in:</a:t>
            </a:r>
          </a:p>
          <a:p>
            <a:pPr lvl="1"/>
            <a:r>
              <a:rPr lang="en-US" dirty="0"/>
              <a:t>Marketing</a:t>
            </a:r>
          </a:p>
          <a:p>
            <a:pPr lvl="1"/>
            <a:r>
              <a:rPr lang="en-US" dirty="0"/>
              <a:t>Design</a:t>
            </a:r>
          </a:p>
          <a:p>
            <a:pPr lvl="1"/>
            <a:r>
              <a:rPr lang="en-US" dirty="0"/>
              <a:t>Advertising</a:t>
            </a:r>
          </a:p>
          <a:p>
            <a:pPr lvl="1"/>
            <a:r>
              <a:rPr lang="en-US" dirty="0"/>
              <a:t>Social media</a:t>
            </a:r>
          </a:p>
          <a:p>
            <a:r>
              <a:rPr lang="en-US" dirty="0"/>
              <a:t>Anyone can create professional visuals</a:t>
            </a:r>
          </a:p>
          <a:p>
            <a:r>
              <a:rPr lang="en-US" dirty="0"/>
              <a:t>No design skills required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DALL·E | </a:t>
            </a:r>
            <a:r>
              <a:rPr lang="en-US" dirty="0" err="1"/>
              <a:t>Midjourney</a:t>
            </a:r>
            <a:endParaRPr lang="en-US" dirty="0"/>
          </a:p>
          <a:p>
            <a:r>
              <a:rPr lang="en-US" b="1" dirty="0"/>
              <a:t>Key Insight</a:t>
            </a:r>
          </a:p>
          <a:p>
            <a:r>
              <a:rPr lang="en-US" dirty="0"/>
              <a:t>Words become visuals using Generative AI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571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Prompting – How to Talk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prompt is the instruction given to AI</a:t>
            </a:r>
          </a:p>
          <a:p>
            <a:r>
              <a:rPr lang="en-US" dirty="0"/>
              <a:t>Better prompts produce better outputs</a:t>
            </a:r>
          </a:p>
          <a:p>
            <a:r>
              <a:rPr lang="en-US" dirty="0"/>
              <a:t>Good prompts include:</a:t>
            </a:r>
          </a:p>
          <a:p>
            <a:pPr lvl="1"/>
            <a:r>
              <a:rPr lang="en-US" dirty="0"/>
              <a:t>Clear instructions</a:t>
            </a:r>
          </a:p>
          <a:p>
            <a:pPr lvl="1"/>
            <a:r>
              <a:rPr lang="en-US" dirty="0"/>
              <a:t>Context</a:t>
            </a:r>
          </a:p>
          <a:p>
            <a:pPr lvl="1"/>
            <a:r>
              <a:rPr lang="en-US" dirty="0"/>
              <a:t>Desired format</a:t>
            </a:r>
          </a:p>
          <a:p>
            <a:r>
              <a:rPr lang="en-US" dirty="0"/>
              <a:t>Prompting is a </a:t>
            </a:r>
            <a:r>
              <a:rPr lang="en-US" b="1" dirty="0"/>
              <a:t>core </a:t>
            </a:r>
            <a:r>
              <a:rPr lang="en-US" b="1" dirty="0" err="1"/>
              <a:t>GenAI</a:t>
            </a:r>
            <a:r>
              <a:rPr lang="en-US" b="1" dirty="0"/>
              <a:t> skill</a:t>
            </a:r>
            <a:endParaRPr lang="en-US" dirty="0"/>
          </a:p>
          <a:p>
            <a:r>
              <a:rPr lang="en-US" b="1" dirty="0"/>
              <a:t>Final Takeaway</a:t>
            </a:r>
          </a:p>
          <a:p>
            <a:r>
              <a:rPr lang="en-US" dirty="0"/>
              <a:t>AI quality depends on prompt quality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966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 – Asking the Right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Prompt engineering means:</a:t>
            </a:r>
          </a:p>
          <a:p>
            <a:pPr lvl="1"/>
            <a:r>
              <a:rPr lang="en-US" sz="2400" dirty="0"/>
              <a:t>Writing clear and structured instructions</a:t>
            </a:r>
          </a:p>
          <a:p>
            <a:r>
              <a:rPr lang="en-US" dirty="0"/>
              <a:t>Good prompts include:</a:t>
            </a:r>
          </a:p>
          <a:p>
            <a:pPr lvl="1"/>
            <a:r>
              <a:rPr lang="en-US" sz="2400" b="1" dirty="0"/>
              <a:t>Role (Who is AI?)</a:t>
            </a:r>
          </a:p>
          <a:p>
            <a:pPr lvl="1"/>
            <a:r>
              <a:rPr lang="en-US" sz="2400" b="1" dirty="0"/>
              <a:t>Task (What to do?)</a:t>
            </a:r>
          </a:p>
          <a:p>
            <a:pPr lvl="1"/>
            <a:r>
              <a:rPr lang="en-US" sz="2400" b="1" dirty="0"/>
              <a:t>Context (Background)</a:t>
            </a:r>
          </a:p>
          <a:p>
            <a:pPr lvl="1"/>
            <a:r>
              <a:rPr lang="en-US" sz="2400" b="1" dirty="0"/>
              <a:t>Format (Output style)</a:t>
            </a:r>
          </a:p>
          <a:p>
            <a:r>
              <a:rPr lang="en-US" dirty="0"/>
              <a:t>Better prompts = better answers</a:t>
            </a:r>
          </a:p>
          <a:p>
            <a:r>
              <a:rPr lang="en-US" b="1" dirty="0"/>
              <a:t>Key Message</a:t>
            </a:r>
          </a:p>
          <a:p>
            <a:r>
              <a:rPr lang="en-US" dirty="0"/>
              <a:t>You don’t control AI — you guide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655638"/>
          </a:xfrm>
        </p:spPr>
        <p:txBody>
          <a:bodyPr/>
          <a:lstStyle/>
          <a:p>
            <a:r>
              <a:rPr lang="en-US" b="1" dirty="0"/>
              <a:t>Prompt Engineering Task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143000"/>
            <a:ext cx="7467600" cy="4873752"/>
          </a:xfrm>
        </p:spPr>
        <p:txBody>
          <a:bodyPr/>
          <a:lstStyle/>
          <a:p>
            <a:r>
              <a:rPr lang="en-US" dirty="0" smtClean="0"/>
              <a:t>promotional </a:t>
            </a:r>
            <a:r>
              <a:rPr lang="en-US" dirty="0"/>
              <a:t>email for college students about a new online business course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Instagram</a:t>
            </a:r>
            <a:r>
              <a:rPr lang="en-US" dirty="0"/>
              <a:t> caption for a new café opening in the </a:t>
            </a:r>
            <a:r>
              <a:rPr lang="en-US" dirty="0" smtClean="0"/>
              <a:t>city</a:t>
            </a:r>
            <a:endParaRPr lang="en-US" dirty="0"/>
          </a:p>
          <a:p>
            <a:r>
              <a:rPr lang="en-US" dirty="0"/>
              <a:t>You are working in the HR department of a company.</a:t>
            </a:r>
            <a:br>
              <a:rPr lang="en-US" dirty="0"/>
            </a:br>
            <a:r>
              <a:rPr lang="en-US" dirty="0"/>
              <a:t>You need to inform a job candidate about their interview schedule</a:t>
            </a:r>
            <a:r>
              <a:rPr lang="en-US" dirty="0" smtClean="0"/>
              <a:t>.</a:t>
            </a:r>
          </a:p>
          <a:p>
            <a:r>
              <a:rPr lang="en-US" dirty="0"/>
              <a:t>You work in a customer support team of an e-commerce company.</a:t>
            </a:r>
            <a:br>
              <a:rPr lang="en-US" dirty="0"/>
            </a:br>
            <a:r>
              <a:rPr lang="en-US" dirty="0"/>
              <a:t>A customer is unhappy due to late delivery and has sent a complaint email.</a:t>
            </a:r>
          </a:p>
        </p:txBody>
      </p:sp>
    </p:spTree>
    <p:extLst>
      <p:ext uri="{BB962C8B-B14F-4D97-AF65-F5344CB8AC3E}">
        <p14:creationId xmlns:p14="http://schemas.microsoft.com/office/powerpoint/2010/main" val="2852722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Evolution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AI has evolved step-by-step</a:t>
            </a:r>
          </a:p>
          <a:p>
            <a:r>
              <a:rPr lang="en-US" dirty="0"/>
              <a:t>Major phases:</a:t>
            </a:r>
          </a:p>
          <a:p>
            <a:pPr lvl="1"/>
            <a:r>
              <a:rPr lang="en-US" dirty="0"/>
              <a:t>Rule-based systems</a:t>
            </a:r>
          </a:p>
          <a:p>
            <a:pPr lvl="1"/>
            <a:r>
              <a:rPr lang="en-US" dirty="0"/>
              <a:t>Machine Learning</a:t>
            </a:r>
          </a:p>
          <a:p>
            <a:pPr lvl="1"/>
            <a:r>
              <a:rPr lang="en-US" dirty="0"/>
              <a:t>Deep Learning</a:t>
            </a:r>
          </a:p>
          <a:p>
            <a:pPr lvl="1"/>
            <a:r>
              <a:rPr lang="en-US" dirty="0"/>
              <a:t>Generative AI</a:t>
            </a:r>
          </a:p>
          <a:p>
            <a:r>
              <a:rPr lang="en-US" dirty="0"/>
              <a:t>Each phase made AI smarter and more useful</a:t>
            </a:r>
          </a:p>
          <a:p>
            <a:r>
              <a:rPr lang="en-US" b="1" dirty="0"/>
              <a:t>Key Insight</a:t>
            </a:r>
          </a:p>
          <a:p>
            <a:r>
              <a:rPr lang="en-US" dirty="0"/>
              <a:t>Generative AI is the result of decades of evolution.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108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AI Journey – How We Reached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Early </a:t>
            </a:r>
            <a:r>
              <a:rPr lang="en-US" dirty="0"/>
              <a:t>AI followed strict rules</a:t>
            </a:r>
          </a:p>
          <a:p>
            <a:r>
              <a:rPr lang="en-US" dirty="0"/>
              <a:t>Machine Learning learned from data</a:t>
            </a:r>
          </a:p>
          <a:p>
            <a:r>
              <a:rPr lang="en-US" dirty="0"/>
              <a:t>Deep Learning handled complex patterns</a:t>
            </a:r>
          </a:p>
          <a:p>
            <a:r>
              <a:rPr lang="en-US" dirty="0"/>
              <a:t>Transformers enabled context understanding</a:t>
            </a:r>
          </a:p>
          <a:p>
            <a:r>
              <a:rPr lang="en-US" dirty="0"/>
              <a:t>Generative AI can now create content</a:t>
            </a:r>
          </a:p>
          <a:p>
            <a:r>
              <a:rPr lang="en-US" b="1" dirty="0"/>
              <a:t>Final Takeaway</a:t>
            </a:r>
          </a:p>
          <a:p>
            <a:r>
              <a:rPr lang="en-US" dirty="0"/>
              <a:t>AI evolved from following rules to creating ideas.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8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Generative AI Across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Generative AI is transforming multiple industries</a:t>
            </a:r>
          </a:p>
          <a:p>
            <a:r>
              <a:rPr lang="en-US" dirty="0"/>
              <a:t>Used to:</a:t>
            </a:r>
          </a:p>
          <a:p>
            <a:pPr lvl="1"/>
            <a:r>
              <a:rPr lang="en-US" dirty="0"/>
              <a:t>Automate tasks</a:t>
            </a:r>
          </a:p>
          <a:p>
            <a:pPr lvl="1"/>
            <a:r>
              <a:rPr lang="en-US" dirty="0"/>
              <a:t>Improve decision-making</a:t>
            </a:r>
          </a:p>
          <a:p>
            <a:pPr lvl="1"/>
            <a:r>
              <a:rPr lang="en-US" dirty="0"/>
              <a:t>Increase productivity</a:t>
            </a:r>
          </a:p>
          <a:p>
            <a:r>
              <a:rPr lang="en-US" dirty="0"/>
              <a:t>Businesses use </a:t>
            </a:r>
            <a:r>
              <a:rPr lang="en-US" dirty="0" err="1"/>
              <a:t>GenAI</a:t>
            </a:r>
            <a:r>
              <a:rPr lang="en-US" dirty="0"/>
              <a:t> to:</a:t>
            </a:r>
          </a:p>
          <a:p>
            <a:pPr lvl="1"/>
            <a:r>
              <a:rPr lang="en-US" dirty="0"/>
              <a:t>Save time</a:t>
            </a:r>
          </a:p>
          <a:p>
            <a:pPr lvl="1"/>
            <a:r>
              <a:rPr lang="en-US" dirty="0"/>
              <a:t>Reduce costs</a:t>
            </a:r>
          </a:p>
          <a:p>
            <a:pPr lvl="1"/>
            <a:r>
              <a:rPr lang="en-US" dirty="0"/>
              <a:t>Improve customer experience</a:t>
            </a:r>
          </a:p>
          <a:p>
            <a:r>
              <a:rPr lang="en-US" dirty="0"/>
              <a:t>Adoption is increasing rapidly</a:t>
            </a:r>
          </a:p>
          <a:p>
            <a:r>
              <a:rPr lang="en-US" b="1" dirty="0"/>
              <a:t>Key Message</a:t>
            </a:r>
          </a:p>
          <a:p>
            <a:r>
              <a:rPr lang="en-US" dirty="0"/>
              <a:t>Generative AI is a business enabler, not just a tech trend.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618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Generative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Assists doctors in:</a:t>
            </a:r>
          </a:p>
          <a:p>
            <a:pPr lvl="1"/>
            <a:r>
              <a:rPr lang="en-US" dirty="0"/>
              <a:t>Medical report generation</a:t>
            </a:r>
          </a:p>
          <a:p>
            <a:pPr lvl="1"/>
            <a:r>
              <a:rPr lang="en-US" dirty="0"/>
              <a:t>Clinical documentation</a:t>
            </a:r>
          </a:p>
          <a:p>
            <a:r>
              <a:rPr lang="en-US" dirty="0"/>
              <a:t>Helps analyze patient data faster</a:t>
            </a:r>
          </a:p>
          <a:p>
            <a:r>
              <a:rPr lang="en-US" dirty="0"/>
              <a:t>Supports diagnosis &amp; treatment planning</a:t>
            </a:r>
          </a:p>
          <a:p>
            <a:r>
              <a:rPr lang="en-US" dirty="0"/>
              <a:t>Reduces administrative workload</a:t>
            </a:r>
          </a:p>
          <a:p>
            <a:r>
              <a:rPr lang="en-US" b="1" dirty="0"/>
              <a:t>Real-World Examples</a:t>
            </a:r>
          </a:p>
          <a:p>
            <a:pPr lvl="1"/>
            <a:r>
              <a:rPr lang="en-US" dirty="0"/>
              <a:t>AI-generated medical summaries</a:t>
            </a:r>
          </a:p>
          <a:p>
            <a:pPr lvl="1"/>
            <a:r>
              <a:rPr lang="en-US" dirty="0"/>
              <a:t>Virtual health assistants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603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Generative AI in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Automates:</a:t>
            </a:r>
          </a:p>
          <a:p>
            <a:pPr lvl="1"/>
            <a:r>
              <a:rPr lang="en-US" dirty="0"/>
              <a:t>Financial reports</a:t>
            </a:r>
          </a:p>
          <a:p>
            <a:pPr lvl="1"/>
            <a:r>
              <a:rPr lang="en-US" dirty="0"/>
              <a:t>Risk analysis</a:t>
            </a:r>
          </a:p>
          <a:p>
            <a:r>
              <a:rPr lang="en-US" dirty="0"/>
              <a:t>Improves fraud detection</a:t>
            </a:r>
          </a:p>
          <a:p>
            <a:r>
              <a:rPr lang="en-US" dirty="0"/>
              <a:t>Enhances customer support using </a:t>
            </a:r>
            <a:r>
              <a:rPr lang="en-US" dirty="0" err="1"/>
              <a:t>chatbots</a:t>
            </a:r>
            <a:endParaRPr lang="en-US" dirty="0"/>
          </a:p>
          <a:p>
            <a:r>
              <a:rPr lang="en-US" dirty="0"/>
              <a:t>Assists in investment research</a:t>
            </a:r>
          </a:p>
          <a:p>
            <a:pPr marL="0" indent="0">
              <a:buNone/>
            </a:pPr>
            <a:r>
              <a:rPr lang="en-US" b="1" dirty="0"/>
              <a:t>Real-World Examples</a:t>
            </a:r>
          </a:p>
          <a:p>
            <a:r>
              <a:rPr lang="en-US" dirty="0"/>
              <a:t>AI-powered banking </a:t>
            </a:r>
            <a:r>
              <a:rPr lang="en-US" dirty="0" err="1"/>
              <a:t>chatbots</a:t>
            </a:r>
            <a:endParaRPr lang="en-US" dirty="0"/>
          </a:p>
          <a:p>
            <a:r>
              <a:rPr lang="en-US" dirty="0"/>
              <a:t>Automated compliance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1177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Generative AI in Education &amp; 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Education:</a:t>
            </a:r>
            <a:endParaRPr lang="en-US" dirty="0"/>
          </a:p>
          <a:p>
            <a:pPr lvl="1"/>
            <a:r>
              <a:rPr lang="en-US" dirty="0"/>
              <a:t>Personalized learning content</a:t>
            </a:r>
          </a:p>
          <a:p>
            <a:pPr lvl="1"/>
            <a:r>
              <a:rPr lang="en-US" dirty="0"/>
              <a:t>AI tutors &amp; doubt solving</a:t>
            </a:r>
          </a:p>
          <a:p>
            <a:pPr lvl="1"/>
            <a:r>
              <a:rPr lang="en-US" dirty="0"/>
              <a:t>Automated assignment feedback</a:t>
            </a:r>
          </a:p>
          <a:p>
            <a:r>
              <a:rPr lang="en-US" b="1" dirty="0"/>
              <a:t>Marketing:</a:t>
            </a:r>
            <a:endParaRPr lang="en-US" dirty="0"/>
          </a:p>
          <a:p>
            <a:pPr lvl="1"/>
            <a:r>
              <a:rPr lang="en-US" dirty="0"/>
              <a:t>Content creation (ads, blogs, emails)</a:t>
            </a:r>
          </a:p>
          <a:p>
            <a:pPr lvl="1"/>
            <a:r>
              <a:rPr lang="en-US" dirty="0"/>
              <a:t>Social media posts</a:t>
            </a:r>
          </a:p>
          <a:p>
            <a:pPr lvl="1"/>
            <a:r>
              <a:rPr lang="en-US" dirty="0"/>
              <a:t>Campaign idea generation</a:t>
            </a:r>
          </a:p>
          <a:p>
            <a:r>
              <a:rPr lang="en-US" b="1" dirty="0"/>
              <a:t>Key Insight</a:t>
            </a:r>
          </a:p>
          <a:p>
            <a:r>
              <a:rPr lang="en-US" dirty="0"/>
              <a:t>Generative AI amplifies human creativity.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92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ChatGPT</a:t>
            </a:r>
            <a:r>
              <a:rPr lang="en-US" b="1" dirty="0"/>
              <a:t> Phenomenon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ChatGPT</a:t>
            </a:r>
            <a:r>
              <a:rPr lang="en-US" dirty="0"/>
              <a:t> launched in </a:t>
            </a:r>
            <a:r>
              <a:rPr lang="en-US" b="1" dirty="0"/>
              <a:t>2022</a:t>
            </a:r>
            <a:endParaRPr lang="en-US" dirty="0"/>
          </a:p>
          <a:p>
            <a:r>
              <a:rPr lang="en-US" dirty="0"/>
              <a:t>Became the </a:t>
            </a:r>
            <a:r>
              <a:rPr lang="en-US" b="1" dirty="0"/>
              <a:t>fastest-growing consumer app</a:t>
            </a:r>
            <a:endParaRPr lang="en-US" dirty="0"/>
          </a:p>
          <a:p>
            <a:r>
              <a:rPr lang="en-US" dirty="0"/>
              <a:t>Reached millions of users in weeks</a:t>
            </a:r>
          </a:p>
          <a:p>
            <a:r>
              <a:rPr lang="en-US" dirty="0"/>
              <a:t>Used by:</a:t>
            </a:r>
          </a:p>
          <a:p>
            <a:pPr lvl="1"/>
            <a:r>
              <a:rPr lang="en-US" dirty="0"/>
              <a:t>Students</a:t>
            </a:r>
          </a:p>
          <a:p>
            <a:pPr lvl="1"/>
            <a:r>
              <a:rPr lang="en-US" dirty="0"/>
              <a:t>Professionals</a:t>
            </a:r>
          </a:p>
          <a:p>
            <a:pPr lvl="1"/>
            <a:r>
              <a:rPr lang="en-US" dirty="0"/>
              <a:t>Businesses</a:t>
            </a:r>
          </a:p>
          <a:p>
            <a:r>
              <a:rPr lang="en-US" dirty="0"/>
              <a:t>Changed how people interact with AI</a:t>
            </a:r>
          </a:p>
          <a:p>
            <a:r>
              <a:rPr lang="en-US" b="1" dirty="0"/>
              <a:t>Key Insight</a:t>
            </a:r>
          </a:p>
          <a:p>
            <a:r>
              <a:rPr lang="en-US" dirty="0" err="1"/>
              <a:t>ChatGPT</a:t>
            </a:r>
            <a:r>
              <a:rPr lang="en-US" dirty="0"/>
              <a:t> brought AI to the masses.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581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Why </a:t>
            </a:r>
            <a:r>
              <a:rPr lang="en-US" sz="4000" b="1" dirty="0" err="1"/>
              <a:t>ChatGPT</a:t>
            </a:r>
            <a:r>
              <a:rPr lang="en-US" sz="4000" b="1" dirty="0"/>
              <a:t> Became So Popular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Simple chat-based interface</a:t>
            </a:r>
          </a:p>
          <a:p>
            <a:r>
              <a:rPr lang="en-US" sz="3200" dirty="0"/>
              <a:t>No technical knowledge required</a:t>
            </a:r>
          </a:p>
          <a:p>
            <a:r>
              <a:rPr lang="en-US" sz="3200" dirty="0"/>
              <a:t>Works in natural language</a:t>
            </a:r>
          </a:p>
          <a:p>
            <a:r>
              <a:rPr lang="en-US" sz="3200" dirty="0"/>
              <a:t>Provides instant responses</a:t>
            </a:r>
          </a:p>
          <a:p>
            <a:r>
              <a:rPr lang="en-US" sz="3200" dirty="0"/>
              <a:t>Free or low-cost access</a:t>
            </a:r>
          </a:p>
          <a:p>
            <a:r>
              <a:rPr lang="en-US" sz="3200" b="1" dirty="0"/>
              <a:t>Key Message</a:t>
            </a:r>
          </a:p>
          <a:p>
            <a:r>
              <a:rPr lang="en-US" sz="3200" dirty="0"/>
              <a:t>Ease of use drives adoption.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63494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Opportunities &amp; Risks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Opportunities</a:t>
            </a:r>
            <a:endParaRPr lang="en-US" dirty="0"/>
          </a:p>
          <a:p>
            <a:pPr lvl="1"/>
            <a:r>
              <a:rPr lang="en-US" dirty="0"/>
              <a:t>Higher productivity</a:t>
            </a:r>
          </a:p>
          <a:p>
            <a:pPr lvl="1"/>
            <a:r>
              <a:rPr lang="en-US" dirty="0"/>
              <a:t>Faster learning</a:t>
            </a:r>
          </a:p>
          <a:p>
            <a:pPr lvl="1"/>
            <a:r>
              <a:rPr lang="en-US" dirty="0"/>
              <a:t>Creativity at scale</a:t>
            </a:r>
          </a:p>
          <a:p>
            <a:r>
              <a:rPr lang="en-US" b="1" dirty="0"/>
              <a:t>Risks</a:t>
            </a:r>
            <a:endParaRPr lang="en-US" dirty="0"/>
          </a:p>
          <a:p>
            <a:pPr lvl="1"/>
            <a:r>
              <a:rPr lang="en-US" dirty="0"/>
              <a:t>Incorrect information</a:t>
            </a:r>
          </a:p>
          <a:p>
            <a:pPr lvl="1"/>
            <a:r>
              <a:rPr lang="en-US" dirty="0"/>
              <a:t>Over-dependence on AI</a:t>
            </a:r>
          </a:p>
          <a:p>
            <a:pPr lvl="1"/>
            <a:r>
              <a:rPr lang="en-US" dirty="0"/>
              <a:t>Ethical &amp; privacy concerns</a:t>
            </a:r>
          </a:p>
          <a:p>
            <a:r>
              <a:rPr lang="en-US" b="1" dirty="0"/>
              <a:t>Key Insight</a:t>
            </a:r>
          </a:p>
          <a:p>
            <a:r>
              <a:rPr lang="en-US" dirty="0"/>
              <a:t>Responsible use is critical.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0731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Future Skills in the Age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Prompt writing</a:t>
            </a:r>
          </a:p>
          <a:p>
            <a:r>
              <a:rPr lang="en-US" sz="2800" dirty="0"/>
              <a:t>Critical thinking</a:t>
            </a:r>
          </a:p>
          <a:p>
            <a:r>
              <a:rPr lang="en-US" sz="2800" dirty="0"/>
              <a:t>AI-assisted decision making</a:t>
            </a:r>
          </a:p>
          <a:p>
            <a:r>
              <a:rPr lang="en-US" sz="2800" dirty="0"/>
              <a:t>Domain knowledge + AI tools</a:t>
            </a:r>
          </a:p>
          <a:p>
            <a:r>
              <a:rPr lang="en-US" sz="2800" dirty="0"/>
              <a:t>Ethical AI awareness</a:t>
            </a:r>
          </a:p>
          <a:p>
            <a:r>
              <a:rPr lang="en-US" sz="2800" b="1" dirty="0"/>
              <a:t>Final Takeaway</a:t>
            </a:r>
          </a:p>
          <a:p>
            <a:r>
              <a:rPr lang="en-US" sz="2800" dirty="0"/>
              <a:t>AI won’t replace you — </a:t>
            </a:r>
            <a:r>
              <a:rPr lang="en-US" sz="2800" b="1" dirty="0"/>
              <a:t>someone using AI will.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05542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782</TotalTime>
  <Words>1518</Words>
  <Application>Microsoft Office PowerPoint</Application>
  <PresentationFormat>On-screen Show (4:3)</PresentationFormat>
  <Paragraphs>372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Oriel</vt:lpstr>
      <vt:lpstr> Generative AI for Business Students (BCA) </vt:lpstr>
      <vt:lpstr>Why Is Everyone Talking About AI?</vt:lpstr>
      <vt:lpstr>AI Myths vs Reality</vt:lpstr>
      <vt:lpstr>What is Artificial Intelligence?</vt:lpstr>
      <vt:lpstr>Traditional AI – Rule-Based Systems</vt:lpstr>
      <vt:lpstr>Machine Learning – Learning from Data</vt:lpstr>
      <vt:lpstr>Generative AI – AI That Creates</vt:lpstr>
      <vt:lpstr>AI vs Machine Learning vs Generative AI</vt:lpstr>
      <vt:lpstr>Comparison Table – AI vs ML vs Generative AI</vt:lpstr>
      <vt:lpstr>Real-Life Examples You Use Every Day</vt:lpstr>
      <vt:lpstr>Identify AI, ML, or Generative AI</vt:lpstr>
      <vt:lpstr>How Do Machines Understand Human Language?</vt:lpstr>
      <vt:lpstr>Natural Language Processing (NLP)</vt:lpstr>
      <vt:lpstr>Text to Numbers – The Language of AI</vt:lpstr>
      <vt:lpstr>Tokens – Breaking Text into Processable Units</vt:lpstr>
      <vt:lpstr>Context – Giving Meaning to Tokens</vt:lpstr>
      <vt:lpstr>Large Language Models (LLMs)</vt:lpstr>
      <vt:lpstr>How Generative AI Generates Responses</vt:lpstr>
      <vt:lpstr>Generative AI Tools – The Ecosystem</vt:lpstr>
      <vt:lpstr>ChatGPT – The Most Popular GenAI Tool</vt:lpstr>
      <vt:lpstr>Gemini &amp; Claude – Advanced AI Assistants</vt:lpstr>
      <vt:lpstr>DALL·E &amp; Midjourney – AI That Creates Images</vt:lpstr>
      <vt:lpstr>Prompting – How to Talk to AI</vt:lpstr>
      <vt:lpstr>Prompt Engineering – Asking the Right Way</vt:lpstr>
      <vt:lpstr>Prompt Engineering Task </vt:lpstr>
      <vt:lpstr>Evolution of Artificial Intelligence</vt:lpstr>
      <vt:lpstr>AI Journey – How We Reached Generative AI</vt:lpstr>
      <vt:lpstr>Generative AI Across Industries</vt:lpstr>
      <vt:lpstr>Generative AI in Healthcare</vt:lpstr>
      <vt:lpstr>Generative AI in Finance</vt:lpstr>
      <vt:lpstr>Generative AI in Education &amp; Marketing</vt:lpstr>
      <vt:lpstr>The ChatGPT Phenomenon</vt:lpstr>
      <vt:lpstr>Why ChatGPT Became So Popular</vt:lpstr>
      <vt:lpstr>Opportunities &amp; Risks of Generative AI</vt:lpstr>
      <vt:lpstr>Future Skills in the Age of Generative 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 &amp; GenAI</dc:title>
  <dc:creator>Dell</dc:creator>
  <cp:lastModifiedBy>Dell</cp:lastModifiedBy>
  <cp:revision>71</cp:revision>
  <dcterms:created xsi:type="dcterms:W3CDTF">2026-01-30T16:44:45Z</dcterms:created>
  <dcterms:modified xsi:type="dcterms:W3CDTF">2026-02-03T04:50:23Z</dcterms:modified>
</cp:coreProperties>
</file>